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3200" b="1">
                <a:solidFill>
                  <a:srgbClr val="202020"/>
                </a:solidFill>
                <a:latin typeface="Microsoft YaHei"/>
                <a:ea typeface="Microsoft YaHei"/>
              </a:rPr>
              <a:t>专利交底书附图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2E5E9E"/>
                </a:solidFill>
                <a:latin typeface="Microsoft YaHei"/>
                <a:ea typeface="Microsoft YaHei"/>
              </a:rPr>
              <a:t>一种基于 ForgeBrain 世界模型的机器人自主抓取与操作方法及系统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3840480"/>
            <a:ext cx="548640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Microsoft YaHei"/>
                <a:ea typeface="Microsoft YaHei"/>
              </a:rPr>
              <a:t>图1  系统框图</a:t>
            </a:r>
          </a:p>
          <a:p>
            <a:pPr algn="l"/>
            <a:r>
              <a:rPr sz="1400" b="0">
                <a:solidFill>
                  <a:srgbClr val="202020"/>
                </a:solidFill>
                <a:latin typeface="Microsoft YaHei"/>
                <a:ea typeface="Microsoft YaHei"/>
              </a:rPr>
              <a:t>图2  方法流程图</a:t>
            </a:r>
          </a:p>
          <a:p>
            <a:pPr algn="l"/>
            <a:r>
              <a:rPr sz="1400" b="0">
                <a:solidFill>
                  <a:srgbClr val="202020"/>
                </a:solidFill>
                <a:latin typeface="Microsoft YaHei"/>
                <a:ea typeface="Microsoft YaHei"/>
              </a:rPr>
              <a:t>图3  预演评估示意图</a:t>
            </a:r>
          </a:p>
          <a:p>
            <a:pPr algn="l"/>
            <a:r>
              <a:rPr sz="1400" b="0">
                <a:solidFill>
                  <a:srgbClr val="202020"/>
                </a:solidFill>
                <a:latin typeface="Microsoft YaHei"/>
                <a:ea typeface="Microsoft YaHei"/>
              </a:rPr>
              <a:t>图4  双阈值偏差监测时序图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2000" b="1">
                <a:solidFill>
                  <a:srgbClr val="202020"/>
                </a:solidFill>
                <a:latin typeface="Microsoft YaHei"/>
                <a:ea typeface="Microsoft YaHei"/>
              </a:rPr>
              <a:t>图1  系统框图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914400"/>
            <a:ext cx="2103120" cy="1554480"/>
          </a:xfrm>
          <a:prstGeom prst="roundRect">
            <a:avLst/>
          </a:prstGeom>
          <a:solidFill>
            <a:srgbClr val="DCE9F8"/>
          </a:solidFill>
          <a:ln w="158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202020"/>
                </a:solidFill>
                <a:latin typeface="Microsoft YaHei"/>
                <a:ea typeface="Microsoft YaHei"/>
              </a:rPr>
              <a:t>多模态感知单元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YaHei"/>
                <a:ea typeface="Microsoft YaHei"/>
              </a:rPr>
              <a:t>(101)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YaHei"/>
                <a:ea typeface="Microsoft YaHei"/>
              </a:rPr>
              <a:t>RGB-D相机·麦克风阵列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YaHei"/>
                <a:ea typeface="Microsoft YaHei"/>
              </a:rPr>
              <a:t>关节编码器·力/触觉阵列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360" y="914400"/>
            <a:ext cx="2286000" cy="1554480"/>
          </a:xfrm>
          <a:prstGeom prst="roundRect">
            <a:avLst/>
          </a:prstGeom>
          <a:solidFill>
            <a:srgbClr val="DCE9F8"/>
          </a:solidFill>
          <a:ln w="158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202020"/>
                </a:solidFill>
                <a:latin typeface="Microsoft YaHei"/>
                <a:ea typeface="Microsoft YaHei"/>
              </a:rPr>
              <a:t>多模态统一编码模块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YaHei"/>
                <a:ea typeface="Microsoft YaHei"/>
              </a:rPr>
              <a:t>(102)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YaHei"/>
                <a:ea typeface="Microsoft YaHei"/>
              </a:rPr>
              <a:t>视觉/动作/音频/文本token化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YaHei"/>
                <a:ea typeface="Microsoft YaHei"/>
              </a:rPr>
              <a:t>三维时空旋转位置编码(102e)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685800"/>
            <a:ext cx="3931920" cy="2103120"/>
          </a:xfrm>
          <a:prstGeom prst="roundRect">
            <a:avLst/>
          </a:prstGeom>
          <a:solidFill>
            <a:srgbClr val="FFF3D6"/>
          </a:solidFill>
          <a:ln w="15875">
            <a:solidFill>
              <a:srgbClr val="C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20202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749808"/>
            <a:ext cx="37490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C06A00"/>
                </a:solidFill>
                <a:latin typeface="Microsoft YaHei"/>
                <a:ea typeface="Microsoft YaHei"/>
              </a:rPr>
              <a:t>ForgeBrain 世界模型引擎 (103)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325880"/>
            <a:ext cx="1600200" cy="1188720"/>
          </a:xfrm>
          <a:prstGeom prst="roundRect">
            <a:avLst/>
          </a:prstGeom>
          <a:solidFill>
            <a:srgbClr val="DCE9F8"/>
          </a:solidFill>
          <a:ln w="158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202020"/>
                </a:solidFill>
                <a:latin typeface="Microsoft YaHei"/>
                <a:ea typeface="Microsoft YaHei"/>
              </a:rPr>
              <a:t>推理塔 (103a)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YaHei"/>
                <a:ea typeface="Microsoft YaHei"/>
              </a:rPr>
              <a:t>自回归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YaHei"/>
                <a:ea typeface="Microsoft YaHei"/>
              </a:rPr>
              <a:t>因果自注意力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325880"/>
            <a:ext cx="1600200" cy="1188720"/>
          </a:xfrm>
          <a:prstGeom prst="roundRect">
            <a:avLst/>
          </a:prstGeom>
          <a:solidFill>
            <a:srgbClr val="DCE9F8"/>
          </a:solidFill>
          <a:ln w="158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202020"/>
                </a:solidFill>
                <a:latin typeface="Microsoft YaHei"/>
                <a:ea typeface="Microsoft YaHei"/>
              </a:rPr>
              <a:t>生成塔 (103b)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YaHei"/>
                <a:ea typeface="Microsoft YaHei"/>
              </a:rPr>
              <a:t>扩散式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YaHei"/>
                <a:ea typeface="Microsoft YaHei"/>
              </a:rPr>
              <a:t>双向自注意力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52360" y="1920240"/>
            <a:ext cx="365760" cy="0"/>
          </a:xfrm>
          <a:prstGeom prst="line">
            <a:avLst/>
          </a:prstGeom>
          <a:ln w="25400">
            <a:solidFill>
              <a:srgbClr val="C06A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35040" y="2542032"/>
            <a:ext cx="32004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00" b="0">
                <a:solidFill>
                  <a:srgbClr val="C06A00"/>
                </a:solidFill>
                <a:latin typeface="Microsoft YaHei"/>
                <a:ea typeface="Microsoft YaHei"/>
              </a:rPr>
              <a:t>单向跨塔注意力 (103c)：信息流仅 103a→103b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12680" y="914400"/>
            <a:ext cx="1920240" cy="1097280"/>
          </a:xfrm>
          <a:prstGeom prst="roundRect">
            <a:avLst/>
          </a:prstGeom>
          <a:solidFill>
            <a:srgbClr val="DCE9F8"/>
          </a:solidFill>
          <a:ln w="158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202020"/>
                </a:solidFill>
                <a:latin typeface="Microsoft YaHei"/>
                <a:ea typeface="Microsoft YaHei"/>
              </a:rPr>
              <a:t>快慢决策门控模块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YaHei"/>
                <a:ea typeface="Microsoft YaHei"/>
              </a:rPr>
              <a:t>(109)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YaHei"/>
                <a:ea typeface="Microsoft YaHei"/>
              </a:rPr>
              <a:t>场景复杂度评分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2743200"/>
            <a:ext cx="1920240" cy="777240"/>
          </a:xfrm>
          <a:prstGeom prst="roundRect">
            <a:avLst/>
          </a:prstGeom>
          <a:solidFill>
            <a:srgbClr val="DCE9F8"/>
          </a:solidFill>
          <a:ln w="158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202020"/>
                </a:solidFill>
                <a:latin typeface="Microsoft YaHei"/>
                <a:ea typeface="Microsoft YaHei"/>
              </a:rPr>
              <a:t>候选动作生成模块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YaHei"/>
                <a:ea typeface="Microsoft YaHei"/>
              </a:rPr>
              <a:t>(104)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12680" y="3977639"/>
            <a:ext cx="1920240" cy="868680"/>
          </a:xfrm>
          <a:prstGeom prst="roundRect">
            <a:avLst/>
          </a:prstGeom>
          <a:solidFill>
            <a:srgbClr val="DCE9F8"/>
          </a:solidFill>
          <a:ln w="158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202020"/>
                </a:solidFill>
                <a:latin typeface="Microsoft YaHei"/>
                <a:ea typeface="Microsoft YaHei"/>
              </a:rPr>
              <a:t>预演评估模块 (105)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YaHei"/>
                <a:ea typeface="Microsoft YaHei"/>
              </a:rPr>
              <a:t>N候选×K预演·式(1)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4114800"/>
            <a:ext cx="2468880" cy="914400"/>
          </a:xfrm>
          <a:prstGeom prst="roundRect">
            <a:avLst/>
          </a:prstGeom>
          <a:solidFill>
            <a:srgbClr val="DCE9F8"/>
          </a:solidFill>
          <a:ln w="158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202020"/>
                </a:solidFill>
                <a:latin typeface="Microsoft YaHei"/>
                <a:ea typeface="Microsoft YaHei"/>
              </a:rPr>
              <a:t>执行控制单元 (106)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YaHei"/>
                <a:ea typeface="Microsoft YaHei"/>
              </a:rPr>
              <a:t>机械臂/夹爪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YaHei"/>
                <a:ea typeface="Microsoft YaHei"/>
              </a:rPr>
              <a:t>EtherCAT 1kHz 阻抗控制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4114800"/>
            <a:ext cx="2286000" cy="914400"/>
          </a:xfrm>
          <a:prstGeom prst="roundRect">
            <a:avLst/>
          </a:prstGeom>
          <a:solidFill>
            <a:srgbClr val="DCE9F8"/>
          </a:solidFill>
          <a:ln w="158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202020"/>
                </a:solidFill>
                <a:latin typeface="Microsoft YaHei"/>
                <a:ea typeface="Microsoft YaHei"/>
              </a:rPr>
              <a:t>执行期偏差监测模块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YaHei"/>
                <a:ea typeface="Microsoft YaHei"/>
              </a:rPr>
              <a:t>(107)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YaHei"/>
                <a:ea typeface="Microsoft YaHei"/>
              </a:rPr>
              <a:t>潜空间偏差·双阈值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114800"/>
            <a:ext cx="2377440" cy="914400"/>
          </a:xfrm>
          <a:prstGeom prst="roundRect">
            <a:avLst/>
          </a:prstGeom>
          <a:solidFill>
            <a:srgbClr val="DCE9F8"/>
          </a:solidFill>
          <a:ln w="158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202020"/>
                </a:solidFill>
                <a:latin typeface="Microsoft YaHei"/>
                <a:ea typeface="Microsoft YaHei"/>
              </a:rPr>
              <a:t>数据闭环与微调模块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YaHei"/>
                <a:ea typeface="Microsoft YaHei"/>
              </a:rPr>
              <a:t>(108)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YaHei"/>
                <a:ea typeface="Microsoft YaHei"/>
              </a:rPr>
              <a:t>失败条件化生成·LoRA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23160" y="1691640"/>
            <a:ext cx="457200" cy="0"/>
          </a:xfrm>
          <a:prstGeom prst="line">
            <a:avLst/>
          </a:prstGeom>
          <a:ln w="1905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166360" y="1691640"/>
            <a:ext cx="457200" cy="0"/>
          </a:xfrm>
          <a:prstGeom prst="line">
            <a:avLst/>
          </a:prstGeom>
          <a:ln w="1905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555480" y="1463040"/>
            <a:ext cx="457200" cy="0"/>
          </a:xfrm>
          <a:prstGeom prst="line">
            <a:avLst/>
          </a:prstGeom>
          <a:ln w="1905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2011680"/>
            <a:ext cx="0" cy="731520"/>
          </a:xfrm>
          <a:prstGeom prst="line">
            <a:avLst/>
          </a:prstGeom>
          <a:ln w="1905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082528" y="2240280"/>
            <a:ext cx="10058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2E5E9E"/>
                </a:solidFill>
                <a:latin typeface="Microsoft YaHei"/>
                <a:ea typeface="Microsoft YaHei"/>
              </a:rPr>
              <a:t>慢通道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972800" y="3520440"/>
            <a:ext cx="0" cy="457199"/>
          </a:xfrm>
          <a:prstGeom prst="line">
            <a:avLst/>
          </a:prstGeom>
          <a:ln w="1905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503920" y="4407408"/>
            <a:ext cx="1508760" cy="118872"/>
          </a:xfrm>
          <a:prstGeom prst="line">
            <a:avLst/>
          </a:prstGeom>
          <a:ln w="1905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7863840" y="2011680"/>
            <a:ext cx="2194560" cy="2103120"/>
          </a:xfrm>
          <a:prstGeom prst="line">
            <a:avLst/>
          </a:prstGeom>
          <a:ln w="1905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732520" y="2834640"/>
            <a:ext cx="10972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2E5E9E"/>
                </a:solidFill>
                <a:latin typeface="Microsoft YaHei"/>
                <a:ea typeface="Microsoft YaHei"/>
              </a:rPr>
              <a:t>快通道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5486400" y="4370832"/>
            <a:ext cx="548640" cy="0"/>
          </a:xfrm>
          <a:prstGeom prst="line">
            <a:avLst/>
          </a:prstGeom>
          <a:ln w="1905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86400" y="4800600"/>
            <a:ext cx="548640" cy="0"/>
          </a:xfrm>
          <a:prstGeom prst="line">
            <a:avLst/>
          </a:prstGeom>
          <a:ln w="1905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49240" y="3886200"/>
            <a:ext cx="11887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00" b="0">
                <a:solidFill>
                  <a:srgbClr val="606060"/>
                </a:solidFill>
                <a:latin typeface="Microsoft YaHei"/>
                <a:ea typeface="Microsoft YaHei"/>
              </a:rPr>
              <a:t>实时观测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5074920"/>
            <a:ext cx="14630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00" b="0">
                <a:solidFill>
                  <a:srgbClr val="C03030"/>
                </a:solidFill>
                <a:latin typeface="Microsoft YaHei"/>
                <a:ea typeface="Microsoft YaHei"/>
              </a:rPr>
              <a:t>中止/降速信号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2697480" y="4572000"/>
            <a:ext cx="502920" cy="0"/>
          </a:xfrm>
          <a:prstGeom prst="line">
            <a:avLst/>
          </a:prstGeom>
          <a:ln w="1905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697480" y="4709160"/>
            <a:ext cx="10972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606060"/>
                </a:solidFill>
                <a:latin typeface="Microsoft YaHei"/>
                <a:ea typeface="Microsoft YaHei"/>
              </a:rPr>
              <a:t>执行记录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223760" y="5029200"/>
            <a:ext cx="0" cy="1143000"/>
          </a:xfrm>
          <a:prstGeom prst="line">
            <a:avLst/>
          </a:prstGeom>
          <a:ln w="15875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64592" y="6172200"/>
            <a:ext cx="7059168" cy="0"/>
          </a:xfrm>
          <a:prstGeom prst="line">
            <a:avLst/>
          </a:prstGeom>
          <a:ln w="15875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64592" y="1691640"/>
            <a:ext cx="0" cy="4480560"/>
          </a:xfrm>
          <a:prstGeom prst="line">
            <a:avLst/>
          </a:prstGeom>
          <a:ln w="15875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64592" y="1691640"/>
            <a:ext cx="155448" cy="0"/>
          </a:xfrm>
          <a:prstGeom prst="line">
            <a:avLst/>
          </a:prstGeom>
          <a:ln w="1587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017520" y="6236208"/>
            <a:ext cx="29260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00" b="0">
                <a:solidFill>
                  <a:srgbClr val="606060"/>
                </a:solidFill>
                <a:latin typeface="Microsoft YaHei"/>
                <a:ea typeface="Microsoft YaHei"/>
              </a:rPr>
              <a:t>观测回传（控制闭环）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1463040" y="3291840"/>
            <a:ext cx="0" cy="822960"/>
          </a:xfrm>
          <a:prstGeom prst="line">
            <a:avLst/>
          </a:prstGeom>
          <a:ln w="15875">
            <a:solidFill>
              <a:srgbClr val="2E7D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463040" y="3291840"/>
            <a:ext cx="6035039" cy="0"/>
          </a:xfrm>
          <a:prstGeom prst="line">
            <a:avLst/>
          </a:prstGeom>
          <a:ln w="15875">
            <a:solidFill>
              <a:srgbClr val="2E7D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498079" y="2788920"/>
            <a:ext cx="0" cy="502920"/>
          </a:xfrm>
          <a:prstGeom prst="line">
            <a:avLst/>
          </a:prstGeom>
          <a:ln w="15875">
            <a:solidFill>
              <a:srgbClr val="2E7D3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377440" y="3035808"/>
            <a:ext cx="2743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2E7D32"/>
                </a:solidFill>
                <a:latin typeface="Microsoft YaHei"/>
                <a:ea typeface="Microsoft YaHei"/>
              </a:rPr>
              <a:t>LoRA 微调权重回写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2000" b="1">
                <a:solidFill>
                  <a:srgbClr val="202020"/>
                </a:solidFill>
                <a:latin typeface="Microsoft YaHei"/>
                <a:ea typeface="Microsoft YaHei"/>
              </a:rPr>
              <a:t>图2  方法流程图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868680"/>
            <a:ext cx="3108960" cy="566928"/>
          </a:xfrm>
          <a:prstGeom prst="roundRect">
            <a:avLst/>
          </a:prstGeom>
          <a:solidFill>
            <a:srgbClr val="DCE9F8"/>
          </a:solidFill>
          <a:ln w="158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202020"/>
                </a:solidFill>
                <a:latin typeface="Microsoft YaHei"/>
                <a:ea typeface="Microsoft YaHei"/>
              </a:rPr>
              <a:t>S1  感知与编码（多模态token化·时间轴对齐）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691640"/>
            <a:ext cx="3108960" cy="566928"/>
          </a:xfrm>
          <a:prstGeom prst="roundRect">
            <a:avLst/>
          </a:prstGeom>
          <a:solidFill>
            <a:srgbClr val="DCE9F8"/>
          </a:solidFill>
          <a:ln w="158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202020"/>
                </a:solidFill>
                <a:latin typeface="Microsoft YaHei"/>
                <a:ea typeface="Microsoft YaHei"/>
              </a:rPr>
              <a:t>S2  推理塔：物理常识推理与任务分解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514600"/>
            <a:ext cx="3108960" cy="566928"/>
          </a:xfrm>
          <a:prstGeom prst="roundRect">
            <a:avLst/>
          </a:prstGeom>
          <a:solidFill>
            <a:srgbClr val="DCE9F8"/>
          </a:solidFill>
          <a:ln w="158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202020"/>
                </a:solidFill>
                <a:latin typeface="Microsoft YaHei"/>
                <a:ea typeface="Microsoft YaHei"/>
              </a:rPr>
              <a:t>S3  快慢门控：计算场景复杂度评分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3337560"/>
            <a:ext cx="3108960" cy="566928"/>
          </a:xfrm>
          <a:prstGeom prst="roundRect">
            <a:avLst/>
          </a:prstGeom>
          <a:solidFill>
            <a:srgbClr val="DCE9F8"/>
          </a:solidFill>
          <a:ln w="158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202020"/>
                </a:solidFill>
                <a:latin typeface="Microsoft YaHei"/>
                <a:ea typeface="Microsoft YaHei"/>
              </a:rPr>
              <a:t>S4  候选动作生成（N条·扩散采样·DTW去重）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4160520"/>
            <a:ext cx="3108960" cy="566928"/>
          </a:xfrm>
          <a:prstGeom prst="roundRect">
            <a:avLst/>
          </a:prstGeom>
          <a:solidFill>
            <a:srgbClr val="DCE9F8"/>
          </a:solidFill>
          <a:ln w="158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202020"/>
                </a:solidFill>
                <a:latin typeface="Microsoft YaHei"/>
                <a:ea typeface="Microsoft YaHei"/>
              </a:rPr>
              <a:t>S5  预演评估：K次rollout·式(1)评分择优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4983480"/>
            <a:ext cx="3108960" cy="566928"/>
          </a:xfrm>
          <a:prstGeom prst="roundRect">
            <a:avLst/>
          </a:prstGeom>
          <a:solidFill>
            <a:srgbClr val="DCE9F8"/>
          </a:solidFill>
          <a:ln w="158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202020"/>
                </a:solidFill>
                <a:latin typeface="Microsoft YaHei"/>
                <a:ea typeface="Microsoft YaHei"/>
              </a:rPr>
              <a:t>S6  执行 + 潜空间偏差双阈值监测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5806440"/>
            <a:ext cx="3108960" cy="566928"/>
          </a:xfrm>
          <a:prstGeom prst="roundRect">
            <a:avLst/>
          </a:prstGeom>
          <a:solidFill>
            <a:srgbClr val="DCE9F8"/>
          </a:solidFill>
          <a:ln w="158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202020"/>
                </a:solidFill>
                <a:latin typeface="Microsoft YaHei"/>
                <a:ea typeface="Microsoft YaHei"/>
              </a:rPr>
              <a:t>S7  数据闭环：失败条件化生成·LoRA微调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26480" y="1435607"/>
            <a:ext cx="0" cy="256032"/>
          </a:xfrm>
          <a:prstGeom prst="line">
            <a:avLst/>
          </a:prstGeom>
          <a:ln w="1905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126480" y="2258568"/>
            <a:ext cx="0" cy="256032"/>
          </a:xfrm>
          <a:prstGeom prst="line">
            <a:avLst/>
          </a:prstGeom>
          <a:ln w="1905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126480" y="3081528"/>
            <a:ext cx="0" cy="256032"/>
          </a:xfrm>
          <a:prstGeom prst="line">
            <a:avLst/>
          </a:prstGeom>
          <a:ln w="1905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126480" y="3904488"/>
            <a:ext cx="0" cy="256032"/>
          </a:xfrm>
          <a:prstGeom prst="line">
            <a:avLst/>
          </a:prstGeom>
          <a:ln w="1905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26480" y="4727448"/>
            <a:ext cx="0" cy="256032"/>
          </a:xfrm>
          <a:prstGeom prst="line">
            <a:avLst/>
          </a:prstGeom>
          <a:ln w="1905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126480" y="5550408"/>
            <a:ext cx="0" cy="256032"/>
          </a:xfrm>
          <a:prstGeom prst="line">
            <a:avLst/>
          </a:prstGeom>
          <a:ln w="1905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36208" y="3099816"/>
            <a:ext cx="9144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2E5E9E"/>
                </a:solidFill>
                <a:latin typeface="Microsoft YaHei"/>
                <a:ea typeface="Microsoft YaHei"/>
              </a:rPr>
              <a:t>慢通道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80960" y="2798064"/>
            <a:ext cx="1188720" cy="0"/>
          </a:xfrm>
          <a:prstGeom prst="line">
            <a:avLst/>
          </a:prstGeom>
          <a:ln w="19050">
            <a:solidFill>
              <a:srgbClr val="2E5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69680" y="2798064"/>
            <a:ext cx="0" cy="2468880"/>
          </a:xfrm>
          <a:prstGeom prst="line">
            <a:avLst/>
          </a:prstGeom>
          <a:ln w="19050">
            <a:solidFill>
              <a:srgbClr val="2E5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680960" y="5266944"/>
            <a:ext cx="1188720" cy="0"/>
          </a:xfrm>
          <a:prstGeom prst="line">
            <a:avLst/>
          </a:prstGeom>
          <a:ln w="1905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979408" y="3611880"/>
            <a:ext cx="2651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2E5E9E"/>
                </a:solidFill>
                <a:latin typeface="Microsoft YaHei"/>
                <a:ea typeface="Microsoft YaHei"/>
              </a:rPr>
              <a:t>快通道：仅推理塔</a:t>
            </a:r>
          </a:p>
          <a:p>
            <a:pPr algn="l"/>
            <a:r>
              <a:rPr sz="900" b="0">
                <a:solidFill>
                  <a:srgbClr val="2E5E9E"/>
                </a:solidFill>
                <a:latin typeface="Microsoft YaHei"/>
                <a:ea typeface="Microsoft YaHei"/>
              </a:rPr>
              <a:t>直接输出动作（&lt;100ms）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3657600" y="4443983"/>
            <a:ext cx="914400" cy="0"/>
          </a:xfrm>
          <a:prstGeom prst="line">
            <a:avLst/>
          </a:prstGeom>
          <a:ln w="19050">
            <a:solidFill>
              <a:srgbClr val="C03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657600" y="1975104"/>
            <a:ext cx="0" cy="2468879"/>
          </a:xfrm>
          <a:prstGeom prst="line">
            <a:avLst/>
          </a:prstGeom>
          <a:ln w="19050">
            <a:solidFill>
              <a:srgbClr val="C03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57600" y="1975104"/>
            <a:ext cx="914400" cy="0"/>
          </a:xfrm>
          <a:prstGeom prst="line">
            <a:avLst/>
          </a:prstGeom>
          <a:ln w="19050">
            <a:solidFill>
              <a:srgbClr val="C0303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43000" y="2971800"/>
            <a:ext cx="2423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C03030"/>
                </a:solidFill>
                <a:latin typeface="Microsoft YaHei"/>
                <a:ea typeface="Microsoft YaHei"/>
              </a:rPr>
              <a:t>置信度 &lt; p_min：</a:t>
            </a:r>
          </a:p>
          <a:p>
            <a:pPr algn="r"/>
            <a:r>
              <a:rPr sz="900" b="0">
                <a:solidFill>
                  <a:srgbClr val="C03030"/>
                </a:solidFill>
                <a:latin typeface="Microsoft YaHei"/>
                <a:ea typeface="Microsoft YaHei"/>
              </a:rPr>
              <a:t>拒绝全部候选，返回重规划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017520" y="5266944"/>
            <a:ext cx="1554480" cy="0"/>
          </a:xfrm>
          <a:prstGeom prst="line">
            <a:avLst/>
          </a:prstGeom>
          <a:ln w="19050">
            <a:solidFill>
              <a:srgbClr val="C03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017520" y="1152144"/>
            <a:ext cx="0" cy="4114800"/>
          </a:xfrm>
          <a:prstGeom prst="line">
            <a:avLst/>
          </a:prstGeom>
          <a:ln w="19050">
            <a:solidFill>
              <a:srgbClr val="C03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017520" y="1152144"/>
            <a:ext cx="1554480" cy="0"/>
          </a:xfrm>
          <a:prstGeom prst="line">
            <a:avLst/>
          </a:prstGeom>
          <a:ln w="19050">
            <a:solidFill>
              <a:srgbClr val="C0303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1325880"/>
            <a:ext cx="2423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C03030"/>
                </a:solidFill>
                <a:latin typeface="Microsoft YaHei"/>
                <a:ea typeface="Microsoft YaHei"/>
              </a:rPr>
              <a:t>偏差 &gt; θ_abort：</a:t>
            </a:r>
          </a:p>
          <a:p>
            <a:pPr algn="r"/>
            <a:r>
              <a:rPr sz="900" b="0">
                <a:solidFill>
                  <a:srgbClr val="C03030"/>
                </a:solidFill>
                <a:latin typeface="Microsoft YaHei"/>
                <a:ea typeface="Microsoft YaHei"/>
              </a:rPr>
              <a:t>安全停止，重新感知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680960" y="6089904"/>
            <a:ext cx="2331720" cy="0"/>
          </a:xfrm>
          <a:prstGeom prst="line">
            <a:avLst/>
          </a:prstGeom>
          <a:ln w="15875">
            <a:solidFill>
              <a:srgbClr val="606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012680" y="1152144"/>
            <a:ext cx="0" cy="4937760"/>
          </a:xfrm>
          <a:prstGeom prst="line">
            <a:avLst/>
          </a:prstGeom>
          <a:ln w="15875">
            <a:solidFill>
              <a:srgbClr val="606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7680960" y="1152144"/>
            <a:ext cx="2331720" cy="0"/>
          </a:xfrm>
          <a:prstGeom prst="line">
            <a:avLst/>
          </a:prstGeom>
          <a:ln w="15875">
            <a:solidFill>
              <a:srgbClr val="60606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104120" y="2743200"/>
            <a:ext cx="19202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Microsoft YaHei"/>
                <a:ea typeface="Microsoft YaHei"/>
              </a:rPr>
              <a:t>下一任务 / 持续运行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6483096"/>
            <a:ext cx="5120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Microsoft YaHei"/>
                <a:ea typeface="Microsoft YaHei"/>
              </a:rPr>
              <a:t>注：S6 触发过中止 → 后续决策周期强制走慢通道并提高 N、K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2000" b="1">
                <a:solidFill>
                  <a:srgbClr val="202020"/>
                </a:solidFill>
                <a:latin typeface="Microsoft YaHei"/>
                <a:ea typeface="Microsoft YaHei"/>
              </a:rPr>
              <a:t>图3  预演评估示意图（N候选 × K预演）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17320"/>
            <a:ext cx="1737360" cy="1005840"/>
          </a:xfrm>
          <a:prstGeom prst="roundRect">
            <a:avLst/>
          </a:prstGeom>
          <a:solidFill>
            <a:srgbClr val="DCE9F8"/>
          </a:solidFill>
          <a:ln w="158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202020"/>
                </a:solidFill>
                <a:latin typeface="Microsoft YaHei"/>
                <a:ea typeface="Microsoft YaHei"/>
              </a:rPr>
              <a:t>当前观测 o_t</a:t>
            </a:r>
          </a:p>
          <a:p>
            <a:pPr algn="ctr"/>
            <a:r>
              <a:rPr sz="1000" b="0">
                <a:solidFill>
                  <a:srgbClr val="202020"/>
                </a:solidFill>
                <a:latin typeface="Microsoft YaHei"/>
                <a:ea typeface="Microsoft YaHei"/>
              </a:rPr>
              <a:t>+ 任务指令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868680"/>
            <a:ext cx="1234440" cy="502920"/>
          </a:xfrm>
          <a:prstGeom prst="roundRect">
            <a:avLst/>
          </a:prstGeom>
          <a:solidFill>
            <a:srgbClr val="DCE9F8"/>
          </a:solidFill>
          <a:ln w="158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202020"/>
                </a:solidFill>
                <a:latin typeface="Microsoft YaHei"/>
                <a:ea typeface="Microsoft YaHei"/>
              </a:rPr>
              <a:t>候选动作 a1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600200"/>
            <a:ext cx="1234440" cy="502920"/>
          </a:xfrm>
          <a:prstGeom prst="roundRect">
            <a:avLst/>
          </a:prstGeom>
          <a:solidFill>
            <a:srgbClr val="DCE9F8"/>
          </a:solidFill>
          <a:ln w="158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202020"/>
                </a:solidFill>
                <a:latin typeface="Microsoft YaHei"/>
                <a:ea typeface="Microsoft YaHei"/>
              </a:rPr>
              <a:t>候选动作 a2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331720"/>
            <a:ext cx="1234440" cy="502920"/>
          </a:xfrm>
          <a:prstGeom prst="roundRect">
            <a:avLst/>
          </a:prstGeom>
          <a:solidFill>
            <a:srgbClr val="DCE9F8"/>
          </a:solidFill>
          <a:ln w="158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202020"/>
                </a:solidFill>
                <a:latin typeface="Microsoft YaHei"/>
                <a:ea typeface="Microsoft YaHei"/>
              </a:rPr>
              <a:t>候选动作 a3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3063240"/>
            <a:ext cx="1234440" cy="502920"/>
          </a:xfrm>
          <a:prstGeom prst="roundRect">
            <a:avLst/>
          </a:prstGeom>
          <a:solidFill>
            <a:srgbClr val="DCE9F8"/>
          </a:solidFill>
          <a:ln w="158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202020"/>
                </a:solidFill>
                <a:latin typeface="Microsoft YaHei"/>
                <a:ea typeface="Microsoft YaHei"/>
              </a:rPr>
              <a:t>候选动作 a_N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834640"/>
            <a:ext cx="9144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202020"/>
                </a:solidFill>
                <a:latin typeface="Microsoft YaHei"/>
                <a:ea typeface="Microsoft YaHei"/>
              </a:rPr>
              <a:t>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11480"/>
            <a:ext cx="3200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C06A00"/>
                </a:solidFill>
                <a:latin typeface="Microsoft YaHei"/>
                <a:ea typeface="Microsoft YaHei"/>
              </a:rPr>
              <a:t>生成塔：动作条件预演 rollout ×K（图示K=3）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103120" y="1115568"/>
            <a:ext cx="594360" cy="804672"/>
          </a:xfrm>
          <a:prstGeom prst="line">
            <a:avLst/>
          </a:prstGeom>
          <a:ln w="1270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977639" y="1115568"/>
            <a:ext cx="548641" cy="0"/>
          </a:xfrm>
          <a:prstGeom prst="line">
            <a:avLst/>
          </a:prstGeom>
          <a:ln w="1270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0" y="868680"/>
            <a:ext cx="868680" cy="502920"/>
          </a:xfrm>
          <a:prstGeom prst="roundRect">
            <a:avLst/>
          </a:prstGeom>
          <a:solidFill>
            <a:srgbClr val="FFF3D6"/>
          </a:solidFill>
          <a:ln w="15875">
            <a:solidFill>
              <a:srgbClr val="C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00" b="0">
                <a:solidFill>
                  <a:srgbClr val="202020"/>
                </a:solidFill>
                <a:latin typeface="Microsoft YaHei"/>
                <a:ea typeface="Microsoft YaHei"/>
              </a:rPr>
              <a:t>预演</a:t>
            </a:r>
          </a:p>
          <a:p>
            <a:pPr algn="ctr"/>
            <a:r>
              <a:rPr sz="700" b="0">
                <a:solidFill>
                  <a:srgbClr val="202020"/>
                </a:solidFill>
                <a:latin typeface="Microsoft YaHei"/>
                <a:ea typeface="Microsoft YaHei"/>
              </a:rPr>
              <a:t>视频 V^1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868680"/>
            <a:ext cx="868680" cy="502920"/>
          </a:xfrm>
          <a:prstGeom prst="roundRect">
            <a:avLst/>
          </a:prstGeom>
          <a:solidFill>
            <a:srgbClr val="FFF3D6"/>
          </a:solidFill>
          <a:ln w="15875">
            <a:solidFill>
              <a:srgbClr val="C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00" b="0">
                <a:solidFill>
                  <a:srgbClr val="202020"/>
                </a:solidFill>
                <a:latin typeface="Microsoft YaHei"/>
                <a:ea typeface="Microsoft YaHei"/>
              </a:rPr>
              <a:t>预演</a:t>
            </a:r>
          </a:p>
          <a:p>
            <a:pPr algn="ctr"/>
            <a:r>
              <a:rPr sz="700" b="0">
                <a:solidFill>
                  <a:srgbClr val="202020"/>
                </a:solidFill>
                <a:latin typeface="Microsoft YaHei"/>
                <a:ea typeface="Microsoft YaHei"/>
              </a:rPr>
              <a:t>视频 V^2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868680"/>
            <a:ext cx="868680" cy="502920"/>
          </a:xfrm>
          <a:prstGeom prst="roundRect">
            <a:avLst/>
          </a:prstGeom>
          <a:solidFill>
            <a:srgbClr val="FFF3D6"/>
          </a:solidFill>
          <a:ln w="15875">
            <a:solidFill>
              <a:srgbClr val="C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00" b="0">
                <a:solidFill>
                  <a:srgbClr val="202020"/>
                </a:solidFill>
                <a:latin typeface="Microsoft YaHei"/>
                <a:ea typeface="Microsoft YaHei"/>
              </a:rPr>
              <a:t>预演</a:t>
            </a:r>
          </a:p>
          <a:p>
            <a:pPr algn="ctr"/>
            <a:r>
              <a:rPr sz="700" b="0">
                <a:solidFill>
                  <a:srgbClr val="202020"/>
                </a:solidFill>
                <a:latin typeface="Microsoft YaHei"/>
                <a:ea typeface="Microsoft YaHei"/>
              </a:rPr>
              <a:t>视频 V^3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98079" y="1115568"/>
            <a:ext cx="365761" cy="987552"/>
          </a:xfrm>
          <a:prstGeom prst="line">
            <a:avLst/>
          </a:prstGeom>
          <a:ln w="1270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103120" y="1847088"/>
            <a:ext cx="594360" cy="73152"/>
          </a:xfrm>
          <a:prstGeom prst="line">
            <a:avLst/>
          </a:prstGeom>
          <a:ln w="1270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77639" y="1847088"/>
            <a:ext cx="548641" cy="0"/>
          </a:xfrm>
          <a:prstGeom prst="line">
            <a:avLst/>
          </a:prstGeom>
          <a:ln w="1270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72000" y="1600200"/>
            <a:ext cx="868680" cy="502920"/>
          </a:xfrm>
          <a:prstGeom prst="roundRect">
            <a:avLst/>
          </a:prstGeom>
          <a:solidFill>
            <a:srgbClr val="FFF3D6"/>
          </a:solidFill>
          <a:ln w="15875">
            <a:solidFill>
              <a:srgbClr val="C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00" b="0">
                <a:solidFill>
                  <a:srgbClr val="202020"/>
                </a:solidFill>
                <a:latin typeface="Microsoft YaHei"/>
                <a:ea typeface="Microsoft YaHei"/>
              </a:rPr>
              <a:t>预演</a:t>
            </a:r>
          </a:p>
          <a:p>
            <a:pPr algn="ctr"/>
            <a:r>
              <a:rPr sz="700" b="0">
                <a:solidFill>
                  <a:srgbClr val="202020"/>
                </a:solidFill>
                <a:latin typeface="Microsoft YaHei"/>
                <a:ea typeface="Microsoft YaHei"/>
              </a:rPr>
              <a:t>视频 V^1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1600200"/>
            <a:ext cx="868680" cy="502920"/>
          </a:xfrm>
          <a:prstGeom prst="roundRect">
            <a:avLst/>
          </a:prstGeom>
          <a:solidFill>
            <a:srgbClr val="FFF3D6"/>
          </a:solidFill>
          <a:ln w="15875">
            <a:solidFill>
              <a:srgbClr val="C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00" b="0">
                <a:solidFill>
                  <a:srgbClr val="202020"/>
                </a:solidFill>
                <a:latin typeface="Microsoft YaHei"/>
                <a:ea typeface="Microsoft YaHei"/>
              </a:rPr>
              <a:t>预演</a:t>
            </a:r>
          </a:p>
          <a:p>
            <a:pPr algn="ctr"/>
            <a:r>
              <a:rPr sz="700" b="0">
                <a:solidFill>
                  <a:srgbClr val="202020"/>
                </a:solidFill>
                <a:latin typeface="Microsoft YaHei"/>
                <a:ea typeface="Microsoft YaHei"/>
              </a:rPr>
              <a:t>视频 V^2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1600200"/>
            <a:ext cx="868680" cy="502920"/>
          </a:xfrm>
          <a:prstGeom prst="roundRect">
            <a:avLst/>
          </a:prstGeom>
          <a:solidFill>
            <a:srgbClr val="FFF3D6"/>
          </a:solidFill>
          <a:ln w="15875">
            <a:solidFill>
              <a:srgbClr val="C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00" b="0">
                <a:solidFill>
                  <a:srgbClr val="202020"/>
                </a:solidFill>
                <a:latin typeface="Microsoft YaHei"/>
                <a:ea typeface="Microsoft YaHei"/>
              </a:rPr>
              <a:t>预演</a:t>
            </a:r>
          </a:p>
          <a:p>
            <a:pPr algn="ctr"/>
            <a:r>
              <a:rPr sz="700" b="0">
                <a:solidFill>
                  <a:srgbClr val="202020"/>
                </a:solidFill>
                <a:latin typeface="Microsoft YaHei"/>
                <a:ea typeface="Microsoft YaHei"/>
              </a:rPr>
              <a:t>视频 V^3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98079" y="1847088"/>
            <a:ext cx="365761" cy="256032"/>
          </a:xfrm>
          <a:prstGeom prst="line">
            <a:avLst/>
          </a:prstGeom>
          <a:ln w="1270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103120" y="1920240"/>
            <a:ext cx="594360" cy="658368"/>
          </a:xfrm>
          <a:prstGeom prst="line">
            <a:avLst/>
          </a:prstGeom>
          <a:ln w="1270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977639" y="2578608"/>
            <a:ext cx="548641" cy="0"/>
          </a:xfrm>
          <a:prstGeom prst="line">
            <a:avLst/>
          </a:prstGeom>
          <a:ln w="1270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72000" y="2331720"/>
            <a:ext cx="868680" cy="502920"/>
          </a:xfrm>
          <a:prstGeom prst="roundRect">
            <a:avLst/>
          </a:prstGeom>
          <a:solidFill>
            <a:srgbClr val="FFF3D6"/>
          </a:solidFill>
          <a:ln w="15875">
            <a:solidFill>
              <a:srgbClr val="C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00" b="0">
                <a:solidFill>
                  <a:srgbClr val="202020"/>
                </a:solidFill>
                <a:latin typeface="Microsoft YaHei"/>
                <a:ea typeface="Microsoft YaHei"/>
              </a:rPr>
              <a:t>预演</a:t>
            </a:r>
          </a:p>
          <a:p>
            <a:pPr algn="ctr"/>
            <a:r>
              <a:rPr sz="700" b="0">
                <a:solidFill>
                  <a:srgbClr val="202020"/>
                </a:solidFill>
                <a:latin typeface="Microsoft YaHei"/>
                <a:ea typeface="Microsoft YaHei"/>
              </a:rPr>
              <a:t>视频 V^1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40" y="2331720"/>
            <a:ext cx="868680" cy="502920"/>
          </a:xfrm>
          <a:prstGeom prst="roundRect">
            <a:avLst/>
          </a:prstGeom>
          <a:solidFill>
            <a:srgbClr val="FFF3D6"/>
          </a:solidFill>
          <a:ln w="15875">
            <a:solidFill>
              <a:srgbClr val="C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00" b="0">
                <a:solidFill>
                  <a:srgbClr val="202020"/>
                </a:solidFill>
                <a:latin typeface="Microsoft YaHei"/>
                <a:ea typeface="Microsoft YaHei"/>
              </a:rPr>
              <a:t>预演</a:t>
            </a:r>
          </a:p>
          <a:p>
            <a:pPr algn="ctr"/>
            <a:r>
              <a:rPr sz="700" b="0">
                <a:solidFill>
                  <a:srgbClr val="202020"/>
                </a:solidFill>
                <a:latin typeface="Microsoft YaHei"/>
                <a:ea typeface="Microsoft YaHei"/>
              </a:rPr>
              <a:t>视频 V^2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2331720"/>
            <a:ext cx="868680" cy="502920"/>
          </a:xfrm>
          <a:prstGeom prst="roundRect">
            <a:avLst/>
          </a:prstGeom>
          <a:solidFill>
            <a:srgbClr val="FFF3D6"/>
          </a:solidFill>
          <a:ln w="15875">
            <a:solidFill>
              <a:srgbClr val="C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00" b="0">
                <a:solidFill>
                  <a:srgbClr val="202020"/>
                </a:solidFill>
                <a:latin typeface="Microsoft YaHei"/>
                <a:ea typeface="Microsoft YaHei"/>
              </a:rPr>
              <a:t>预演</a:t>
            </a:r>
          </a:p>
          <a:p>
            <a:pPr algn="ctr"/>
            <a:r>
              <a:rPr sz="700" b="0">
                <a:solidFill>
                  <a:srgbClr val="202020"/>
                </a:solidFill>
                <a:latin typeface="Microsoft YaHei"/>
                <a:ea typeface="Microsoft YaHei"/>
              </a:rPr>
              <a:t>视频 V^3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7498079" y="2103120"/>
            <a:ext cx="365761" cy="475488"/>
          </a:xfrm>
          <a:prstGeom prst="line">
            <a:avLst/>
          </a:prstGeom>
          <a:ln w="1270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103120" y="1920240"/>
            <a:ext cx="594360" cy="1389888"/>
          </a:xfrm>
          <a:prstGeom prst="line">
            <a:avLst/>
          </a:prstGeom>
          <a:ln w="1270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977639" y="3310128"/>
            <a:ext cx="548641" cy="0"/>
          </a:xfrm>
          <a:prstGeom prst="line">
            <a:avLst/>
          </a:prstGeom>
          <a:ln w="1270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72000" y="3063240"/>
            <a:ext cx="868680" cy="502920"/>
          </a:xfrm>
          <a:prstGeom prst="roundRect">
            <a:avLst/>
          </a:prstGeom>
          <a:solidFill>
            <a:srgbClr val="FFF3D6"/>
          </a:solidFill>
          <a:ln w="15875">
            <a:solidFill>
              <a:srgbClr val="C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00" b="0">
                <a:solidFill>
                  <a:srgbClr val="202020"/>
                </a:solidFill>
                <a:latin typeface="Microsoft YaHei"/>
                <a:ea typeface="Microsoft YaHei"/>
              </a:rPr>
              <a:t>预演</a:t>
            </a:r>
          </a:p>
          <a:p>
            <a:pPr algn="ctr"/>
            <a:r>
              <a:rPr sz="700" b="0">
                <a:solidFill>
                  <a:srgbClr val="202020"/>
                </a:solidFill>
                <a:latin typeface="Microsoft YaHei"/>
                <a:ea typeface="Microsoft YaHei"/>
              </a:rPr>
              <a:t>视频 V^1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0" y="3063240"/>
            <a:ext cx="868680" cy="502920"/>
          </a:xfrm>
          <a:prstGeom prst="roundRect">
            <a:avLst/>
          </a:prstGeom>
          <a:solidFill>
            <a:srgbClr val="FFF3D6"/>
          </a:solidFill>
          <a:ln w="15875">
            <a:solidFill>
              <a:srgbClr val="C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00" b="0">
                <a:solidFill>
                  <a:srgbClr val="202020"/>
                </a:solidFill>
                <a:latin typeface="Microsoft YaHei"/>
                <a:ea typeface="Microsoft YaHei"/>
              </a:rPr>
              <a:t>预演</a:t>
            </a:r>
          </a:p>
          <a:p>
            <a:pPr algn="ctr"/>
            <a:r>
              <a:rPr sz="700" b="0">
                <a:solidFill>
                  <a:srgbClr val="202020"/>
                </a:solidFill>
                <a:latin typeface="Microsoft YaHei"/>
                <a:ea typeface="Microsoft YaHei"/>
              </a:rPr>
              <a:t>视频 V^2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3063240"/>
            <a:ext cx="868680" cy="502920"/>
          </a:xfrm>
          <a:prstGeom prst="roundRect">
            <a:avLst/>
          </a:prstGeom>
          <a:solidFill>
            <a:srgbClr val="FFF3D6"/>
          </a:solidFill>
          <a:ln w="15875">
            <a:solidFill>
              <a:srgbClr val="C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00" b="0">
                <a:solidFill>
                  <a:srgbClr val="202020"/>
                </a:solidFill>
                <a:latin typeface="Microsoft YaHei"/>
                <a:ea typeface="Microsoft YaHei"/>
              </a:rPr>
              <a:t>预演</a:t>
            </a:r>
          </a:p>
          <a:p>
            <a:pPr algn="ctr"/>
            <a:r>
              <a:rPr sz="700" b="0">
                <a:solidFill>
                  <a:srgbClr val="202020"/>
                </a:solidFill>
                <a:latin typeface="Microsoft YaHei"/>
                <a:ea typeface="Microsoft YaHei"/>
              </a:rPr>
              <a:t>视频 V^3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7498079" y="2103120"/>
            <a:ext cx="365761" cy="1207008"/>
          </a:xfrm>
          <a:prstGeom prst="line">
            <a:avLst/>
          </a:prstGeom>
          <a:ln w="1270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863840" y="1371600"/>
            <a:ext cx="1691640" cy="1463040"/>
          </a:xfrm>
          <a:prstGeom prst="roundRect">
            <a:avLst/>
          </a:prstGeom>
          <a:solidFill>
            <a:srgbClr val="DCE9F8"/>
          </a:solidFill>
          <a:ln w="158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202020"/>
                </a:solidFill>
                <a:latin typeface="Microsoft YaHei"/>
                <a:ea typeface="Microsoft YaHei"/>
              </a:rPr>
              <a:t>推理塔评估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YaHei"/>
                <a:ea typeface="Microsoft YaHei"/>
              </a:rPr>
              <a:t>p_i^k、r_i^col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YaHei"/>
                <a:ea typeface="Microsoft YaHei"/>
              </a:rPr>
              <a:t>r_i^dmg、r_i^lim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29800" y="1188720"/>
            <a:ext cx="2148840" cy="1828800"/>
          </a:xfrm>
          <a:prstGeom prst="roundRect">
            <a:avLst/>
          </a:prstGeom>
          <a:solidFill>
            <a:srgbClr val="DFF0D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1">
                <a:solidFill>
                  <a:srgbClr val="202020"/>
                </a:solidFill>
                <a:latin typeface="Microsoft YaHei"/>
                <a:ea typeface="Microsoft YaHei"/>
              </a:rPr>
              <a:t>式(1) 综合评分</a:t>
            </a:r>
          </a:p>
          <a:p>
            <a:pPr algn="ctr"/>
            <a:r>
              <a:rPr sz="850" b="0">
                <a:solidFill>
                  <a:srgbClr val="202020"/>
                </a:solidFill>
                <a:latin typeface="Microsoft YaHei"/>
                <a:ea typeface="Microsoft YaHei"/>
              </a:rPr>
              <a:t>J_i = mean(p) − λ₁max(r_col)</a:t>
            </a:r>
          </a:p>
          <a:p>
            <a:pPr algn="ctr"/>
            <a:r>
              <a:rPr sz="850" b="0">
                <a:solidFill>
                  <a:srgbClr val="202020"/>
                </a:solidFill>
                <a:latin typeface="Microsoft YaHei"/>
                <a:ea typeface="Microsoft YaHei"/>
              </a:rPr>
              <a:t>− λ₂max(r_dmg) − λ₃r_lim</a:t>
            </a:r>
          </a:p>
          <a:p>
            <a:pPr algn="ctr"/>
            <a:r>
              <a:rPr sz="850" b="0">
                <a:solidFill>
                  <a:srgbClr val="202020"/>
                </a:solidFill>
                <a:latin typeface="Microsoft YaHei"/>
                <a:ea typeface="Microsoft YaHei"/>
              </a:rPr>
              <a:t>− λ₄σ_i − λ₅c_i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555480" y="2103120"/>
            <a:ext cx="274320" cy="0"/>
          </a:xfrm>
          <a:prstGeom prst="line">
            <a:avLst/>
          </a:prstGeom>
          <a:ln w="19050">
            <a:solidFill>
              <a:srgbClr val="2E5E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Diamond 36"/>
          <p:cNvSpPr/>
          <p:nvPr/>
        </p:nvSpPr>
        <p:spPr>
          <a:xfrm>
            <a:off x="7955279" y="3977639"/>
            <a:ext cx="1828800" cy="822960"/>
          </a:xfrm>
          <a:prstGeom prst="diamond">
            <a:avLst/>
          </a:prstGeom>
          <a:solidFill>
            <a:srgbClr val="DFF0D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202020"/>
                </a:solidFill>
                <a:latin typeface="Microsoft YaHei"/>
                <a:ea typeface="Microsoft YaHei"/>
              </a:rPr>
              <a:t>max p ≥ p_min ?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881360" y="3017520"/>
            <a:ext cx="0" cy="1371600"/>
          </a:xfrm>
          <a:prstGeom prst="line">
            <a:avLst/>
          </a:prstGeom>
          <a:ln w="190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9784080" y="4389120"/>
            <a:ext cx="1097280" cy="0"/>
          </a:xfrm>
          <a:prstGeom prst="line">
            <a:avLst/>
          </a:prstGeom>
          <a:ln w="190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754880" y="3977639"/>
            <a:ext cx="2011680" cy="822960"/>
          </a:xfrm>
          <a:prstGeom prst="roundRect">
            <a:avLst/>
          </a:prstGeom>
          <a:solidFill>
            <a:srgbClr val="DCE9F8"/>
          </a:solidFill>
          <a:ln w="158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202020"/>
                </a:solidFill>
                <a:latin typeface="Microsoft YaHei"/>
                <a:ea typeface="Microsoft YaHei"/>
              </a:rPr>
              <a:t>执行 J* 最优动作</a:t>
            </a:r>
          </a:p>
          <a:p>
            <a:pPr algn="ctr"/>
            <a:r>
              <a:rPr sz="900" b="0">
                <a:solidFill>
                  <a:srgbClr val="202020"/>
                </a:solidFill>
                <a:latin typeface="Microsoft YaHei"/>
                <a:ea typeface="Microsoft YaHei"/>
              </a:rPr>
              <a:t>（进入图4监测）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6766560" y="4389120"/>
            <a:ext cx="1188719" cy="0"/>
          </a:xfrm>
          <a:prstGeom prst="line">
            <a:avLst/>
          </a:prstGeom>
          <a:ln w="190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269480" y="4069080"/>
            <a:ext cx="5486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Microsoft YaHei"/>
                <a:ea typeface="Microsoft YaHei"/>
              </a:rPr>
              <a:t>是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24160" y="3977639"/>
            <a:ext cx="1691640" cy="822960"/>
          </a:xfrm>
          <a:prstGeom prst="roundRect">
            <a:avLst/>
          </a:prstGeom>
          <a:solidFill>
            <a:srgbClr val="FAE3E3"/>
          </a:solidFill>
          <a:ln w="15875">
            <a:solidFill>
              <a:srgbClr val="C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50" b="1">
                <a:solidFill>
                  <a:srgbClr val="202020"/>
                </a:solidFill>
                <a:latin typeface="Microsoft YaHei"/>
                <a:ea typeface="Microsoft YaHei"/>
              </a:rPr>
              <a:t>拒绝全部候选</a:t>
            </a:r>
          </a:p>
          <a:p>
            <a:pPr algn="ctr"/>
            <a:r>
              <a:rPr sz="850" b="0">
                <a:solidFill>
                  <a:srgbClr val="202020"/>
                </a:solidFill>
                <a:latin typeface="Microsoft YaHei"/>
                <a:ea typeface="Microsoft YaHei"/>
              </a:rPr>
              <a:t>重规划/换视角/移障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784080" y="4389120"/>
            <a:ext cx="640080" cy="0"/>
          </a:xfrm>
          <a:prstGeom prst="line">
            <a:avLst/>
          </a:prstGeom>
          <a:ln w="19050">
            <a:solidFill>
              <a:srgbClr val="C0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921240" y="4069080"/>
            <a:ext cx="5486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C03030"/>
                </a:solidFill>
                <a:latin typeface="Microsoft YaHei"/>
                <a:ea typeface="Microsoft YaHei"/>
              </a:rPr>
              <a:t>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Microsoft YaHei"/>
                <a:ea typeface="Microsoft YaHei"/>
              </a:rPr>
              <a:t>对第 i 条候选执行 K 次预演：成功率取 K 次均值 mean(p)，风险取 K 次最大值（保守聚合），σ_i 为 K 次间成功率标准差（预演不确定性惩罚）；任一候选均不达 p_min 时不在真实世界执行任何动作。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2000" b="1">
                <a:solidFill>
                  <a:srgbClr val="202020"/>
                </a:solidFill>
                <a:latin typeface="Microsoft YaHei"/>
                <a:ea typeface="Microsoft YaHei"/>
              </a:rPr>
              <a:t>图4  双阈值偏差监测时序图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97280" y="5669280"/>
            <a:ext cx="10424160" cy="0"/>
          </a:xfrm>
          <a:prstGeom prst="line">
            <a:avLst/>
          </a:prstGeom>
          <a:ln w="19050">
            <a:solidFill>
              <a:srgbClr val="202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097280" y="1005840"/>
            <a:ext cx="0" cy="4663440"/>
          </a:xfrm>
          <a:prstGeom prst="line">
            <a:avLst/>
          </a:prstGeom>
          <a:ln w="19050">
            <a:solidFill>
              <a:srgbClr val="2020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5779008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Microsoft YaHei"/>
                <a:ea typeface="Microsoft YaHei"/>
              </a:rPr>
              <a:t>时间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77240"/>
            <a:ext cx="12801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Microsoft YaHei"/>
                <a:ea typeface="Microsoft YaHei"/>
              </a:rPr>
              <a:t>偏差 d̃_t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3657600"/>
            <a:ext cx="10241280" cy="0"/>
          </a:xfrm>
          <a:prstGeom prst="line">
            <a:avLst/>
          </a:prstGeom>
          <a:ln w="15875">
            <a:solidFill>
              <a:srgbClr val="C06A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0" y="3346704"/>
            <a:ext cx="3291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C06A00"/>
                </a:solidFill>
                <a:latin typeface="Microsoft YaHei"/>
                <a:ea typeface="Microsoft YaHei"/>
              </a:rPr>
              <a:t>θ_warn（成功样本分布 P95 标定）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0" y="2194560"/>
            <a:ext cx="10241280" cy="0"/>
          </a:xfrm>
          <a:prstGeom prst="line">
            <a:avLst/>
          </a:prstGeom>
          <a:ln w="15875">
            <a:solidFill>
              <a:srgbClr val="C03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0" y="1883664"/>
            <a:ext cx="3291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C03030"/>
                </a:solidFill>
                <a:latin typeface="Microsoft YaHei"/>
                <a:ea typeface="Microsoft YaHei"/>
              </a:rPr>
              <a:t>θ_abort（成功样本分布 P99.5 标定）</a:t>
            </a:r>
          </a:p>
        </p:txBody>
      </p:sp>
      <p:sp>
        <p:nvSpPr>
          <p:cNvPr id="11" name="Freeform 10"/>
          <p:cNvSpPr/>
          <p:nvPr/>
        </p:nvSpPr>
        <p:spPr>
          <a:xfrm>
            <a:off x="1280160" y="1651561"/>
            <a:ext cx="8503920" cy="3624451"/>
          </a:xfrm>
          <a:custGeom>
            <a:avLst/>
            <a:gdLst/>
            <a:ahLst/>
            <a:cxnLst/>
            <a:rect l="l" t="t" r="r" b="b"/>
            <a:pathLst>
              <a:path w="8503920" h="3624451">
                <a:moveTo>
                  <a:pt x="0" y="3419162"/>
                </a:moveTo>
                <a:lnTo>
                  <a:pt x="137159" y="3405284"/>
                </a:lnTo>
                <a:lnTo>
                  <a:pt x="274319" y="3413211"/>
                </a:lnTo>
                <a:lnTo>
                  <a:pt x="411479" y="3441364"/>
                </a:lnTo>
                <a:lnTo>
                  <a:pt x="548639" y="3484139"/>
                </a:lnTo>
                <a:lnTo>
                  <a:pt x="685799" y="3533018"/>
                </a:lnTo>
                <a:lnTo>
                  <a:pt x="822959" y="3578270"/>
                </a:lnTo>
                <a:lnTo>
                  <a:pt x="960119" y="3610884"/>
                </a:lnTo>
                <a:lnTo>
                  <a:pt x="1097279" y="3624367"/>
                </a:lnTo>
                <a:lnTo>
                  <a:pt x="1234439" y="3616034"/>
                </a:lnTo>
                <a:lnTo>
                  <a:pt x="1371599" y="3587545"/>
                </a:lnTo>
                <a:lnTo>
                  <a:pt x="1508759" y="3544571"/>
                </a:lnTo>
                <a:lnTo>
                  <a:pt x="1645919" y="3495670"/>
                </a:lnTo>
                <a:lnTo>
                  <a:pt x="1783079" y="3450577"/>
                </a:lnTo>
                <a:lnTo>
                  <a:pt x="1920239" y="3418271"/>
                </a:lnTo>
                <a:lnTo>
                  <a:pt x="2057399" y="3405184"/>
                </a:lnTo>
                <a:lnTo>
                  <a:pt x="2194559" y="3413922"/>
                </a:lnTo>
                <a:lnTo>
                  <a:pt x="2331719" y="3442745"/>
                </a:lnTo>
                <a:lnTo>
                  <a:pt x="2468879" y="3485915"/>
                </a:lnTo>
                <a:lnTo>
                  <a:pt x="2606039" y="3534835"/>
                </a:lnTo>
                <a:lnTo>
                  <a:pt x="2743199" y="3579766"/>
                </a:lnTo>
                <a:lnTo>
                  <a:pt x="2880360" y="3611761"/>
                </a:lnTo>
                <a:lnTo>
                  <a:pt x="3017520" y="3624451"/>
                </a:lnTo>
                <a:lnTo>
                  <a:pt x="3154680" y="3615308"/>
                </a:lnTo>
                <a:lnTo>
                  <a:pt x="3291840" y="3586153"/>
                </a:lnTo>
                <a:lnTo>
                  <a:pt x="3429000" y="3542791"/>
                </a:lnTo>
                <a:lnTo>
                  <a:pt x="3566160" y="3493856"/>
                </a:lnTo>
                <a:lnTo>
                  <a:pt x="3703320" y="3449090"/>
                </a:lnTo>
                <a:lnTo>
                  <a:pt x="3840480" y="3417408"/>
                </a:lnTo>
                <a:lnTo>
                  <a:pt x="3977640" y="3405116"/>
                </a:lnTo>
                <a:lnTo>
                  <a:pt x="4114800" y="3414663"/>
                </a:lnTo>
                <a:lnTo>
                  <a:pt x="4251960" y="3419367"/>
                </a:lnTo>
                <a:lnTo>
                  <a:pt x="4389120" y="3344219"/>
                </a:lnTo>
                <a:lnTo>
                  <a:pt x="4526280" y="3277418"/>
                </a:lnTo>
                <a:lnTo>
                  <a:pt x="4663440" y="3203869"/>
                </a:lnTo>
                <a:lnTo>
                  <a:pt x="4800600" y="3110833"/>
                </a:lnTo>
                <a:lnTo>
                  <a:pt x="4937760" y="2992379"/>
                </a:lnTo>
                <a:lnTo>
                  <a:pt x="5074920" y="2851457"/>
                </a:lnTo>
                <a:lnTo>
                  <a:pt x="5212080" y="2698862"/>
                </a:lnTo>
                <a:lnTo>
                  <a:pt x="5349240" y="2549471"/>
                </a:lnTo>
                <a:lnTo>
                  <a:pt x="5486400" y="2417038"/>
                </a:lnTo>
                <a:lnTo>
                  <a:pt x="5623560" y="2309396"/>
                </a:lnTo>
                <a:lnTo>
                  <a:pt x="5760720" y="2225715"/>
                </a:lnTo>
                <a:lnTo>
                  <a:pt x="5897880" y="2156797"/>
                </a:lnTo>
                <a:lnTo>
                  <a:pt x="6035040" y="2088286"/>
                </a:lnTo>
                <a:lnTo>
                  <a:pt x="6172200" y="2005684"/>
                </a:lnTo>
                <a:lnTo>
                  <a:pt x="6309360" y="1899416"/>
                </a:lnTo>
                <a:lnTo>
                  <a:pt x="6446520" y="1768172"/>
                </a:lnTo>
                <a:lnTo>
                  <a:pt x="6583680" y="1619369"/>
                </a:lnTo>
                <a:lnTo>
                  <a:pt x="6720840" y="1466557"/>
                </a:lnTo>
                <a:lnTo>
                  <a:pt x="6858000" y="1324688"/>
                </a:lnTo>
                <a:lnTo>
                  <a:pt x="6995160" y="1204888"/>
                </a:lnTo>
                <a:lnTo>
                  <a:pt x="7132320" y="1110577"/>
                </a:lnTo>
                <a:lnTo>
                  <a:pt x="7269480" y="1036269"/>
                </a:lnTo>
                <a:lnTo>
                  <a:pt x="7406640" y="969491"/>
                </a:lnTo>
                <a:lnTo>
                  <a:pt x="7543800" y="895140"/>
                </a:lnTo>
                <a:lnTo>
                  <a:pt x="7680960" y="800757"/>
                </a:lnTo>
                <a:lnTo>
                  <a:pt x="7818120" y="680882"/>
                </a:lnTo>
                <a:lnTo>
                  <a:pt x="7955280" y="538961"/>
                </a:lnTo>
                <a:lnTo>
                  <a:pt x="8092440" y="386139"/>
                </a:lnTo>
                <a:lnTo>
                  <a:pt x="8229600" y="237370"/>
                </a:lnTo>
                <a:lnTo>
                  <a:pt x="8366760" y="106193"/>
                </a:lnTo>
                <a:lnTo>
                  <a:pt x="8503920" y="0"/>
                </a:lnTo>
              </a:path>
            </a:pathLst>
          </a:custGeom>
          <a:noFill/>
          <a:ln w="28575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51775" y="3602736"/>
            <a:ext cx="109728" cy="109728"/>
          </a:xfrm>
          <a:prstGeom prst="ellipse">
            <a:avLst/>
          </a:prstGeom>
          <a:solidFill>
            <a:srgbClr val="C06A00"/>
          </a:solidFill>
          <a:ln>
            <a:solidFill>
              <a:srgbClr val="C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80576" y="2139696"/>
            <a:ext cx="109728" cy="109728"/>
          </a:xfrm>
          <a:prstGeom prst="ellipse">
            <a:avLst/>
          </a:prstGeom>
          <a:solidFill>
            <a:srgbClr val="C03030"/>
          </a:solidFill>
          <a:ln>
            <a:solidFill>
              <a:srgbClr val="C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309360" y="3063240"/>
            <a:ext cx="1005840" cy="548640"/>
          </a:xfrm>
          <a:prstGeom prst="line">
            <a:avLst/>
          </a:prstGeom>
          <a:ln w="15875">
            <a:solidFill>
              <a:srgbClr val="C06A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06240" y="2743200"/>
            <a:ext cx="26517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C06A00"/>
                </a:solidFill>
                <a:latin typeface="Microsoft YaHei"/>
                <a:ea typeface="Microsoft YaHei"/>
              </a:rPr>
              <a:t>越过 θ_warn：执行速度×β 降速</a:t>
            </a:r>
          </a:p>
          <a:p>
            <a:pPr algn="r"/>
            <a:r>
              <a:rPr sz="900" b="0">
                <a:solidFill>
                  <a:srgbClr val="C06A00"/>
                </a:solidFill>
                <a:latin typeface="Microsoft YaHei"/>
                <a:ea typeface="Microsoft YaHei"/>
              </a:rPr>
              <a:t>（β=0.3–0.5），监测频率加密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03920" y="1417320"/>
            <a:ext cx="658368" cy="685800"/>
          </a:xfrm>
          <a:prstGeom prst="line">
            <a:avLst/>
          </a:prstGeom>
          <a:ln w="15875">
            <a:solidFill>
              <a:srgbClr val="C0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60720" y="1051560"/>
            <a:ext cx="32918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C03030"/>
                </a:solidFill>
                <a:latin typeface="Microsoft YaHei"/>
                <a:ea typeface="Microsoft YaHei"/>
              </a:rPr>
              <a:t>越过 θ_abort：立即安全停止</a:t>
            </a:r>
          </a:p>
          <a:p>
            <a:pPr algn="r"/>
            <a:r>
              <a:rPr sz="900" b="0">
                <a:solidFill>
                  <a:srgbClr val="C03030"/>
                </a:solidFill>
                <a:latin typeface="Microsoft YaHei"/>
                <a:ea typeface="Microsoft YaHei"/>
              </a:rPr>
              <a:t>→ 返回 S1 重新感知规划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6080760"/>
            <a:ext cx="9601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Microsoft YaHei"/>
                <a:ea typeface="Microsoft YaHei"/>
              </a:rPr>
              <a:t>d̃_t = EWMA( ‖z_t^real − z_t^pred‖₂ / ‖z_t^pred‖₂ )，平滑系数 α=0.2–0.5，监测周期 Δt=100–200ms（潜空间度量，对光照/噪声鲁棒）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800600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2E5E9E"/>
                </a:solidFill>
                <a:latin typeface="Microsoft YaHei"/>
                <a:ea typeface="Microsoft YaHei"/>
              </a:rPr>
              <a:t>正常执行（基线波动）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